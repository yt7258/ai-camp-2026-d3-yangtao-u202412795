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a13a4ea2084f94" Type="http://schemas.openxmlformats.org/officeDocument/2006/relationships/extended-properties" Target="docProps/app.xml"/><Relationship Id="R098bfba894e2479d" Type="http://schemas.openxmlformats.org/officeDocument/2006/relationships/officeDocument" Target="ppt/presentation.xml"/><Relationship Id="R65851e71e0db4407" Type="http://schemas.openxmlformats.org/officeDocument/2006/relationships/custom-properties" Target="docProps/custom.xml"/><Relationship Id="Rfedc41f63bbd4a6b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b6e41e017be4c9a"/>
  </p:notesMasterIdLst>
  <p:sldIdLst>
    <p:sldId id="256" r:id="Rf8354318c9c74574"/>
    <p:sldId id="257" r:id="R57dc5e550f954a64"/>
    <p:sldId id="258" r:id="Rba0ee6944f0e495e"/>
    <p:sldId id="259" r:id="Rc074b649b6c447f7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57dc5e550f954a64" Type="http://schemas.openxmlformats.org/officeDocument/2006/relationships/slide" Target="slides/slide2.xml"/><Relationship Id="Rba0ee6944f0e495e" Type="http://schemas.openxmlformats.org/officeDocument/2006/relationships/slide" Target="slides/slide3.xml"/><Relationship Id="Rbb6e41e017be4c9a" Type="http://schemas.openxmlformats.org/officeDocument/2006/relationships/notesMaster" Target="notesMasters/notesMaster1.xml"/><Relationship Id="Rc074b649b6c447f7" Type="http://schemas.openxmlformats.org/officeDocument/2006/relationships/slide" Target="slides/slide4.xml"/><Relationship Id="Rf8354318c9c74574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776bcb2bdf06442e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86615b4e46d4e1e" Type="http://schemas.openxmlformats.org/officeDocument/2006/relationships/slide" Target="../slides/slide1.xml"/><Relationship Id="R3a643b3f2eb44b0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46c2d71fb04c34" Type="http://schemas.openxmlformats.org/officeDocument/2006/relationships/notesMaster" Target="../notesMasters/notesMaster1.xml"/><Relationship Id="R404e4e3675a549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e209912104471f" Type="http://schemas.openxmlformats.org/officeDocument/2006/relationships/slide" Target="../slides/slide3.xml"/><Relationship Id="R3e3738f8e2d74ff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ea70d56cfb8482e" Type="http://schemas.openxmlformats.org/officeDocument/2006/relationships/notesMaster" Target="../notesMasters/notesMaster1.xml"/><Relationship Id="R8d245a087b6a4cb9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先说使用者和问题，不讲课程日名称代替问题。指出真实输入和产品边界。目标 30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说明基线为何简单、候选只复杂哪一步，以及比较条件如何保持相同。目标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只选择一条最能回答问题的证据。说出命令、指标含义和一个真实样本。目标 60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用失败收尾，明确不能声称什么和下一项最小检查。不要说泛泛的“数据不够”。目标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dba8ea6312493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35a1e0a25cb413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b8969c20ffe4c8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48023f1a8d643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d4bf08e9eb543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bc315336deb4de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44a45034051e4ef9" Type="http://schemas.openxmlformats.org/officeDocument/2006/relationships/notesSlide" Target="../notesSlides/notesSlide1.xml"/><Relationship Id="Raefebeb3045e49b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73428f4bf784ab7" Type="http://schemas.openxmlformats.org/officeDocument/2006/relationships/notesSlide" Target="../notesSlides/notesSlide2.xml"/><Relationship Id="R7844c19829c34b0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ba6474a54994b41" Type="http://schemas.openxmlformats.org/officeDocument/2006/relationships/slideLayout" Target="../slideLayouts/slideLayout1.xml"/><Relationship Id="R83c9e05996514fc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082804f6d3f4b95" Type="http://schemas.openxmlformats.org/officeDocument/2006/relationships/notesSlide" Target="../notesSlides/notesSlide4.xml"/><Relationship Id="R840776f45b3c4f3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 xmlns:a="http://schemas.openxmlformats.org/drawingml/2006/main">
            <a:off x="720000" y="108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2952000" y="1152000"/>
            <a:ext cx="846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下一小时家庭用电预测</a:t>
            </a:r>
          </a:p>
        </p:txBody>
      </p:sp>
      <p:sp>
        <p:nvSpPr>
          <p:cNvPr id="100002" name="CoverBody"/>
          <p:cNvSpPr txBox="1"/>
          <p:nvPr/>
        </p:nvSpPr>
        <p:spPr>
          <a:xfrm xmlns:a="http://schemas.openxmlformats.org/drawingml/2006/main">
            <a:off x="2952000" y="216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2200" b="0">
                <a:solidFill>
                  <a:srgbClr val="D6F5EE"/>
                </a:solidFill>
                <a:latin typeface="Microsoft YaHei"/>
                <a:ea typeface="Microsoft YaHei"/>
              </a:rPr>
              <a:t>家庭能源研究小组只想用整点前的历史记录，估计下一小时平均功率；比较“和最近一小时一样”（持续性基线）与“使用多个历史滞后时刻”的候选模型谁更准。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2952000" y="4572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600" b="1">
                <a:solidFill>
                  <a:srgbClr val="8DDDD0"/>
                </a:solidFill>
                <a:latin typeface="Microsoft YaHei"/>
                <a:ea typeface="Microsoft YaHei"/>
              </a:rPr>
              <a:t>每日 3 分钟答辩 · 第 1 页约 30 秒 · 真实数据：Kaggle 单户分钟用电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02 · 约 45 秒</a:t>
            </a:r>
          </a:p>
        </p:txBody>
      </p:sp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方法与简单基线</a:t>
            </a:r>
          </a:p>
        </p:txBody>
      </p:sp>
      <p:sp>
        <p:nvSpPr>
          <p:cNvPr id="100006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Input"/>
          <p:cNvSpPr/>
          <p:nvPr/>
        </p:nvSpPr>
        <p:spPr>
          <a:xfrm xmlns:a="http://schemas.openxmlformats.org/drawingml/2006/main">
            <a:off x="540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真实输入</a:t>
            </a:r>
          </a:p>
          <a:p xmlns:a="http://schemas.openxmlformats.org/drawingml/2006/main">
            <a:r>
              <a:rPr sz="2200" b="1">
                <a:solidFill>
                  <a:srgbClr val="123A3A"/>
                </a:solidFill>
              </a:rPr>
              <a:t>Kaggle Household Electric Power Consumption</a:t>
            </a:r>
          </a:p>
          <a:p xmlns:a="http://schemas.openxmlformats.org/drawingml/2006/main">
            <a:r>
              <a:rPr sz="2200" b="1">
                <a:solidFill>
                  <a:srgbClr val="123A3A"/>
                </a:solidFill>
              </a:rPr>
              <a:t>150,000 条分钟记录 → 2,501 小时</a:t>
            </a:r>
          </a:p>
          <a:p xmlns:a="http://schemas.openxmlformats.org/drawingml/2006/main">
            <a:r>
              <a:rPr sz="2200" b="1">
                <a:solidFill>
                  <a:srgbClr val="123A3A"/>
                </a:solidFill>
              </a:rPr>
              <a:t>检查：python analyze.py --prepare</a:t>
            </a:r>
          </a:p>
        </p:txBody>
      </p:sp>
      <p:sp>
        <p:nvSpPr>
          <p:cNvPr id="100008" name="Baseline"/>
          <p:cNvSpPr/>
          <p:nvPr/>
        </p:nvSpPr>
        <p:spPr>
          <a:xfrm xmlns:a="http://schemas.openxmlformats.org/drawingml/2006/main">
            <a:off x="4572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简单基线</a:t>
            </a:r>
          </a:p>
          <a:p xmlns:a="http://schemas.openxmlformats.org/drawingml/2006/main">
            <a:r>
              <a:rPr sz="2200" b="1">
                <a:solidFill>
                  <a:srgbClr val="173F5F"/>
                </a:solidFill>
              </a:rPr>
              <a:t>最近一小时功率（lag_1）</a:t>
            </a:r>
          </a:p>
          <a:p xmlns:a="http://schemas.openxmlformats.org/drawingml/2006/main">
            <a:r>
              <a:rPr sz="2200" b="1">
                <a:solidFill>
                  <a:srgbClr val="173F5F"/>
                </a:solidFill>
              </a:rPr>
              <a:t>测试段 MAE 0.794 kW</a:t>
            </a:r>
          </a:p>
        </p:txBody>
      </p:sp>
      <p:sp>
        <p:nvSpPr>
          <p:cNvPr id="100009" name="Candidate"/>
          <p:cNvSpPr/>
          <p:nvPr/>
        </p:nvSpPr>
        <p:spPr>
          <a:xfrm xmlns:a="http://schemas.openxmlformats.org/drawingml/2006/main">
            <a:off x="8604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候选方法</a:t>
            </a:r>
          </a:p>
          <a:p xmlns:a="http://schemas.openxmlformats.org/drawingml/2006/main">
            <a:r>
              <a:rPr sz="2200" b="1">
                <a:solidFill>
                  <a:srgbClr val="6B3E16"/>
                </a:solidFill>
              </a:rPr>
              <a:t>随机森林（lag_1/2/3/24 + 整点 + 星期）</a:t>
            </a:r>
          </a:p>
          <a:p xmlns:a="http://schemas.openxmlformats.org/drawingml/2006/main">
            <a:r>
              <a:rPr sz="2200" b="1">
                <a:solidFill>
                  <a:srgbClr val="6B3E16"/>
                </a:solidFill>
              </a:rPr>
              <a:t>同一测试段 MAE 0.541 kW</a:t>
            </a:r>
          </a:p>
        </p:txBody>
      </p:sp>
      <p:sp>
        <p:nvSpPr>
          <p:cNvPr id="100010" name="MethodPrompt"/>
          <p:cNvSpPr txBox="1"/>
          <p:nvPr/>
        </p:nvSpPr>
        <p:spPr>
          <a:xfrm xmlns:a="http://schemas.openxmlformats.org/drawingml/2006/main">
            <a:off x="1080000" y="4680000"/>
            <a:ext cx="1000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保持相同：同一小时数据、时间顺序 80/20 划分、MAE/RMSE 与高需求告警定义；只比较基线 vs 候选。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03 · 约 60 秒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一条最重要的证据</a:t>
            </a:r>
          </a:p>
        </p:txBody>
      </p:sp>
      <p:sp>
        <p:nvSpPr>
          <p:cNvPr id="100013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Metric"/>
          <p:cNvSpPr/>
          <p:nvPr/>
        </p:nvSpPr>
        <p:spPr>
          <a:xfrm xmlns:a="http://schemas.openxmlformats.org/drawingml/2006/main">
            <a:off x="540000" y="1800000"/>
            <a:ext cx="5292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主指标 MAE</a:t>
            </a:r>
          </a:p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基线 0.794 → 候选 0.541 kW（低约 32%）</a:t>
            </a:r>
          </a:p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同一测试段 496 小时；误报 31→9，召回 0.184→0.237</a:t>
            </a:r>
          </a:p>
        </p:txBody>
      </p:sp>
      <p:sp>
        <p:nvSpPr>
          <p:cNvPr id="100015" name="Case"/>
          <p:cNvSpPr/>
          <p:nvPr/>
        </p:nvSpPr>
        <p:spPr>
          <a:xfrm xmlns:a="http://schemas.openxmlformats.org/drawingml/2006/main">
            <a:off x="6156000" y="1800000"/>
            <a:ext cx="5436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真实案例</a:t>
            </a:r>
          </a:p>
          <a:p xmlns:a="http://schemas.openxmlformats.org/drawingml/2006/main">
            <a:r>
              <a:rPr sz="2200" b="1">
                <a:solidFill>
                  <a:srgbClr val="083B35"/>
                </a:solidFill>
              </a:rPr>
              <a:t>2007-03-17 22:00：真实 0.30 kW，预测 3.31 kW，误差 3.02 kW</a:t>
            </a:r>
          </a:p>
          <a:p xmlns:a="http://schemas.openxmlformats.org/drawingml/2006/main">
            <a:r>
              <a:rPr sz="2200" b="1">
                <a:solidFill>
                  <a:srgbClr val="083B35"/>
                </a:solidFill>
              </a:rPr>
              <a:t>傍晚高峰后入睡骤降，滞后特征无法预知</a:t>
            </a:r>
          </a:p>
        </p:txBody>
      </p:sp>
      <p:sp>
        <p:nvSpPr>
          <p:cNvPr id="100016" name="EvidencePrompt"/>
          <p:cNvSpPr txBox="1"/>
          <p:nvPr/>
        </p:nvSpPr>
        <p:spPr>
          <a:xfrm xmlns:a="http://schemas.openxmlformats.org/drawingml/2006/main">
            <a:off x="792000" y="4680000"/>
            <a:ext cx="1058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数字可由 README 命令复现：python analyze.py 输出 metrics.json 与 largest_errors.csv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 xmlns:a="http://schemas.openxmlformats.org/drawingml/2006/main">
            <a:off x="540000" y="50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FFFFFF"/>
                </a:solidFill>
                <a:latin typeface="Microsoft YaHei"/>
                <a:ea typeface="Microsoft YaHei"/>
              </a:rPr>
              <a:t>失败、限制与下一问题</a:t>
            </a:r>
          </a:p>
        </p:txBody>
      </p:sp>
      <p:sp>
        <p:nvSpPr>
          <p:cNvPr id="100018" name="Failure"/>
          <p:cNvSpPr/>
          <p:nvPr/>
        </p:nvSpPr>
        <p:spPr>
          <a:xfrm xmlns:a="http://schemas.openxmlformats.org/drawingml/2006/main">
            <a:off x="540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6B3E16"/>
                </a:solidFill>
                <a:latin typeface="Microsoft YaHei"/>
                <a:ea typeface="Microsoft YaHei"/>
              </a:rPr>
              <a:t>一个真实失败</a:t>
            </a:r>
          </a:p>
          <a:p xmlns:a="http://schemas.openxmlformats.org/drawingml/2006/main">
            <a:r>
              <a:rPr sz="2100" b="1">
                <a:solidFill>
                  <a:srgbClr val="6B3E16"/>
                </a:solidFill>
              </a:rPr>
              <a:t>傍晚/深夜突变（骤降/骤升）</a:t>
            </a:r>
          </a:p>
          <a:p xmlns:a="http://schemas.openxmlformats.org/drawingml/2006/main">
            <a:r>
              <a:rPr sz="2100" b="1">
                <a:solidFill>
                  <a:srgbClr val="6B3E16"/>
                </a:solidFill>
              </a:rPr>
              <a:t>最大误差 3.02 kW，发生在高峰后入睡骤降时刻</a:t>
            </a:r>
          </a:p>
        </p:txBody>
      </p:sp>
      <p:sp>
        <p:nvSpPr>
          <p:cNvPr id="100019" name="Limit"/>
          <p:cNvSpPr/>
          <p:nvPr/>
        </p:nvSpPr>
        <p:spPr>
          <a:xfrm xmlns:a="http://schemas.openxmlformats.org/drawingml/2006/main">
            <a:off x="4374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23A3A"/>
                </a:solidFill>
                <a:latin typeface="Microsoft YaHei"/>
                <a:ea typeface="Microsoft YaHei"/>
              </a:rPr>
              <a:t>证据不支持什么</a:t>
            </a:r>
          </a:p>
          <a:p xmlns:a="http://schemas.openxmlformats.org/drawingml/2006/main">
            <a:r>
              <a:rPr sz="2100" b="1">
                <a:solidFill>
                  <a:srgbClr val="123A3A"/>
                </a:solidFill>
              </a:rPr>
              <a:t>不能预测突发用电；不推广到其他家庭</a:t>
            </a:r>
          </a:p>
          <a:p xmlns:a="http://schemas.openxmlformats.org/drawingml/2006/main">
            <a:r>
              <a:rPr sz="2100" b="1">
                <a:solidFill>
                  <a:srgbClr val="123A3A"/>
                </a:solidFill>
              </a:rPr>
              <a:t>不用于电网控制或安全告警</a:t>
            </a:r>
          </a:p>
        </p:txBody>
      </p:sp>
      <p:sp>
        <p:nvSpPr>
          <p:cNvPr id="100020" name="Next"/>
          <p:cNvSpPr/>
          <p:nvPr/>
        </p:nvSpPr>
        <p:spPr>
          <a:xfrm xmlns:a="http://schemas.openxmlformats.org/drawingml/2006/main">
            <a:off x="8208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73F5F"/>
                </a:solidFill>
                <a:latin typeface="Microsoft YaHei"/>
                <a:ea typeface="Microsoft YaHei"/>
              </a:rPr>
              <a:t>下一项最小检查</a:t>
            </a:r>
          </a:p>
          <a:p xmlns:a="http://schemas.openxmlformats.org/drawingml/2006/main">
            <a:r>
              <a:rPr sz="2100" b="1">
                <a:solidFill>
                  <a:srgbClr val="173F5F"/>
                </a:solidFill>
              </a:rPr>
              <a:t>加入更长滞后（如 168 小时）或 Sub_metering</a:t>
            </a:r>
          </a:p>
          <a:p xmlns:a="http://schemas.openxmlformats.org/drawingml/2006/main">
            <a:r>
              <a:rPr sz="2100" b="1">
                <a:solidFill>
                  <a:srgbClr val="173F5F"/>
                </a:solidFill>
              </a:rPr>
              <a:t>只改特征，不动数据、划分与指标</a:t>
            </a:r>
          </a:p>
        </p:txBody>
      </p:sp>
      <p:sp>
        <p:nvSpPr>
          <p:cNvPr id="100021" name="EndMeta"/>
          <p:cNvSpPr txBox="1"/>
          <p:nvPr/>
        </p:nvSpPr>
        <p:spPr>
          <a:xfrm xmlns:a="http://schemas.openxmlformats.org/drawingml/2006/main">
            <a:off x="720000" y="4680000"/>
            <a:ext cx="107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900" b="1">
                <a:solidFill>
                  <a:srgbClr val="D6F5EE"/>
                </a:solidFill>
                <a:latin typeface="Microsoft YaHei"/>
                <a:ea typeface="Microsoft YaHei"/>
              </a:rPr>
              <a:t>准备回答：代码追踪 · 指标 · 失败 · 智能体贡献 · 小变化预测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2026-08-11T15:34:49Z</dcterms:created>
  <cp:lastModifiedBy>OfficeCLI</cp:lastModifiedBy>
  <dcterms:modified xsi:type="dcterms:W3CDTF">2026-08-11T15:34:49Z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2026-08-11T15:35:06Z</vt:lpwstr>
  </op:property>
</op:Properties>
</file>